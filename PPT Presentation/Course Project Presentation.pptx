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359" r:id="rId1"/>
  </p:sldMasterIdLst>
  <p:sldIdLst>
    <p:sldId id="258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71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3"/>
  </p:normalViewPr>
  <p:slideViewPr>
    <p:cSldViewPr snapToGrid="0">
      <p:cViewPr varScale="1">
        <p:scale>
          <a:sx n="117" d="100"/>
          <a:sy n="117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90766F-D90F-4DA8-97DD-046ADAAB147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32839E5-771E-4514-B086-56B4FD39AF90}">
      <dgm:prSet/>
      <dgm:spPr/>
      <dgm:t>
        <a:bodyPr/>
        <a:lstStyle/>
        <a:p>
          <a:r>
            <a:rPr lang="en-US" dirty="0"/>
            <a:t>LAYER 3: PROTOCOL LOGIC </a:t>
          </a:r>
        </a:p>
      </dgm:t>
    </dgm:pt>
    <dgm:pt modelId="{E56387AC-B8C0-4666-A722-42E149E6A9FE}" type="parTrans" cxnId="{9465CB12-256F-453D-9C7F-92A7F01918E2}">
      <dgm:prSet/>
      <dgm:spPr/>
      <dgm:t>
        <a:bodyPr/>
        <a:lstStyle/>
        <a:p>
          <a:endParaRPr lang="en-US"/>
        </a:p>
      </dgm:t>
    </dgm:pt>
    <dgm:pt modelId="{9ABACC86-A27E-4953-9DB2-F94005667C0E}" type="sibTrans" cxnId="{9465CB12-256F-453D-9C7F-92A7F01918E2}">
      <dgm:prSet/>
      <dgm:spPr/>
      <dgm:t>
        <a:bodyPr/>
        <a:lstStyle/>
        <a:p>
          <a:endParaRPr lang="en-US"/>
        </a:p>
      </dgm:t>
    </dgm:pt>
    <dgm:pt modelId="{007DE456-C881-4F5F-9869-5BCD76F4B49B}">
      <dgm:prSet/>
      <dgm:spPr/>
      <dgm:t>
        <a:bodyPr/>
        <a:lstStyle/>
        <a:p>
          <a:r>
            <a:rPr lang="en-US" dirty="0"/>
            <a:t>TLSClient, TLSServer  TLSMessage, HandshakeState  </a:t>
          </a:r>
        </a:p>
      </dgm:t>
    </dgm:pt>
    <dgm:pt modelId="{37A488C8-6B76-4FB6-A4D4-D032029E7577}" type="parTrans" cxnId="{07DE0AAD-948D-4213-A7C3-D977EA9FD3E4}">
      <dgm:prSet/>
      <dgm:spPr/>
      <dgm:t>
        <a:bodyPr/>
        <a:lstStyle/>
        <a:p>
          <a:endParaRPr lang="en-US"/>
        </a:p>
      </dgm:t>
    </dgm:pt>
    <dgm:pt modelId="{6F09FACD-7806-44B9-AA61-F04AF9AC620F}" type="sibTrans" cxnId="{07DE0AAD-948D-4213-A7C3-D977EA9FD3E4}">
      <dgm:prSet/>
      <dgm:spPr/>
      <dgm:t>
        <a:bodyPr/>
        <a:lstStyle/>
        <a:p>
          <a:endParaRPr lang="en-US"/>
        </a:p>
      </dgm:t>
    </dgm:pt>
    <dgm:pt modelId="{3710E1B3-12E4-4AA4-8953-1DB3DFE49653}">
      <dgm:prSet/>
      <dgm:spPr/>
      <dgm:t>
        <a:bodyPr/>
        <a:lstStyle/>
        <a:p>
          <a:r>
            <a:rPr lang="en-US" dirty="0"/>
            <a:t>LAYER 2: CRYPTOGRAPHIC ALGORITHMS:RSA (Authentication), Diffie Hellman (Key Exchange),  KDF(Key Derivation) </a:t>
          </a:r>
        </a:p>
      </dgm:t>
    </dgm:pt>
    <dgm:pt modelId="{6A567606-E154-4A6F-998D-68845E94797B}" type="parTrans" cxnId="{A8052CD9-32B8-4BC8-A43C-D0A3EB6B6E8E}">
      <dgm:prSet/>
      <dgm:spPr/>
      <dgm:t>
        <a:bodyPr/>
        <a:lstStyle/>
        <a:p>
          <a:endParaRPr lang="en-US"/>
        </a:p>
      </dgm:t>
    </dgm:pt>
    <dgm:pt modelId="{DF3100DC-21FF-4DDB-A506-14E5F6D499E0}" type="sibTrans" cxnId="{A8052CD9-32B8-4BC8-A43C-D0A3EB6B6E8E}">
      <dgm:prSet/>
      <dgm:spPr/>
      <dgm:t>
        <a:bodyPr/>
        <a:lstStyle/>
        <a:p>
          <a:endParaRPr lang="en-US"/>
        </a:p>
      </dgm:t>
    </dgm:pt>
    <dgm:pt modelId="{D4CAECCD-698D-4B9A-806E-A380DC83A2B4}">
      <dgm:prSet/>
      <dgm:spPr/>
      <dgm:t>
        <a:bodyPr/>
        <a:lstStyle/>
        <a:p>
          <a:r>
            <a:rPr lang="en-US" dirty="0"/>
            <a:t>LAYER 1: MATHEMATICAL PRIMITIVES  MathUtils (Modular arithmetic,  Prime generation), ByteUtils</a:t>
          </a:r>
        </a:p>
      </dgm:t>
    </dgm:pt>
    <dgm:pt modelId="{38BF1E49-56F2-4FB7-B410-6298728BE932}" type="parTrans" cxnId="{AC125FA0-8124-40CD-AB79-62839A7CAB05}">
      <dgm:prSet/>
      <dgm:spPr/>
      <dgm:t>
        <a:bodyPr/>
        <a:lstStyle/>
        <a:p>
          <a:endParaRPr lang="en-US"/>
        </a:p>
      </dgm:t>
    </dgm:pt>
    <dgm:pt modelId="{2C141EE3-E389-40AA-9482-860B30C75216}" type="sibTrans" cxnId="{AC125FA0-8124-40CD-AB79-62839A7CAB05}">
      <dgm:prSet/>
      <dgm:spPr/>
      <dgm:t>
        <a:bodyPr/>
        <a:lstStyle/>
        <a:p>
          <a:endParaRPr lang="en-US"/>
        </a:p>
      </dgm:t>
    </dgm:pt>
    <dgm:pt modelId="{0BF08837-D102-426D-8412-707689272694}" type="pres">
      <dgm:prSet presAssocID="{5F90766F-D90F-4DA8-97DD-046ADAAB1471}" presName="root" presStyleCnt="0">
        <dgm:presLayoutVars>
          <dgm:dir/>
          <dgm:resizeHandles val="exact"/>
        </dgm:presLayoutVars>
      </dgm:prSet>
      <dgm:spPr/>
    </dgm:pt>
    <dgm:pt modelId="{44F8F656-4259-4D4F-B226-317197E2F276}" type="pres">
      <dgm:prSet presAssocID="{132839E5-771E-4514-B086-56B4FD39AF90}" presName="compNode" presStyleCnt="0"/>
      <dgm:spPr/>
    </dgm:pt>
    <dgm:pt modelId="{A98B4C88-D89F-4125-AF77-F4402BC1C1A9}" type="pres">
      <dgm:prSet presAssocID="{132839E5-771E-4514-B086-56B4FD39AF9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2020CED1-FC70-4BFC-8F34-A944154A3FC3}" type="pres">
      <dgm:prSet presAssocID="{132839E5-771E-4514-B086-56B4FD39AF90}" presName="spaceRect" presStyleCnt="0"/>
      <dgm:spPr/>
    </dgm:pt>
    <dgm:pt modelId="{EB6FC3D5-DB33-4C01-8E83-9DD16E53A776}" type="pres">
      <dgm:prSet presAssocID="{132839E5-771E-4514-B086-56B4FD39AF90}" presName="textRect" presStyleLbl="revTx" presStyleIdx="0" presStyleCnt="4">
        <dgm:presLayoutVars>
          <dgm:chMax val="1"/>
          <dgm:chPref val="1"/>
        </dgm:presLayoutVars>
      </dgm:prSet>
      <dgm:spPr/>
    </dgm:pt>
    <dgm:pt modelId="{245514F1-10EF-4BB3-ADAE-65E6AE1591F8}" type="pres">
      <dgm:prSet presAssocID="{9ABACC86-A27E-4953-9DB2-F94005667C0E}" presName="sibTrans" presStyleCnt="0"/>
      <dgm:spPr/>
    </dgm:pt>
    <dgm:pt modelId="{DDA845F9-B60F-4237-9286-5A80648C657A}" type="pres">
      <dgm:prSet presAssocID="{007DE456-C881-4F5F-9869-5BCD76F4B49B}" presName="compNode" presStyleCnt="0"/>
      <dgm:spPr/>
    </dgm:pt>
    <dgm:pt modelId="{2F00491D-C24A-4461-865C-25D836AE24D0}" type="pres">
      <dgm:prSet presAssocID="{007DE456-C881-4F5F-9869-5BCD76F4B49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92B3087F-106D-4C66-BD6E-1CEB4C65D07F}" type="pres">
      <dgm:prSet presAssocID="{007DE456-C881-4F5F-9869-5BCD76F4B49B}" presName="spaceRect" presStyleCnt="0"/>
      <dgm:spPr/>
    </dgm:pt>
    <dgm:pt modelId="{5C3F21E8-DA4A-4D12-A95B-43B5F7E70CEA}" type="pres">
      <dgm:prSet presAssocID="{007DE456-C881-4F5F-9869-5BCD76F4B49B}" presName="textRect" presStyleLbl="revTx" presStyleIdx="1" presStyleCnt="4">
        <dgm:presLayoutVars>
          <dgm:chMax val="1"/>
          <dgm:chPref val="1"/>
        </dgm:presLayoutVars>
      </dgm:prSet>
      <dgm:spPr/>
    </dgm:pt>
    <dgm:pt modelId="{795563F3-4A02-4215-9D97-C58055ECBF14}" type="pres">
      <dgm:prSet presAssocID="{6F09FACD-7806-44B9-AA61-F04AF9AC620F}" presName="sibTrans" presStyleCnt="0"/>
      <dgm:spPr/>
    </dgm:pt>
    <dgm:pt modelId="{5286F697-0A1D-4922-B6CB-70D8322161E7}" type="pres">
      <dgm:prSet presAssocID="{3710E1B3-12E4-4AA4-8953-1DB3DFE49653}" presName="compNode" presStyleCnt="0"/>
      <dgm:spPr/>
    </dgm:pt>
    <dgm:pt modelId="{090F67DA-7B10-4813-A307-ED1AB3AC01F6}" type="pres">
      <dgm:prSet presAssocID="{3710E1B3-12E4-4AA4-8953-1DB3DFE4965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7634030F-3DF2-4FE3-BEEF-08326E145427}" type="pres">
      <dgm:prSet presAssocID="{3710E1B3-12E4-4AA4-8953-1DB3DFE49653}" presName="spaceRect" presStyleCnt="0"/>
      <dgm:spPr/>
    </dgm:pt>
    <dgm:pt modelId="{8E876F4B-FB06-4AC0-99CB-DBD3225C84C2}" type="pres">
      <dgm:prSet presAssocID="{3710E1B3-12E4-4AA4-8953-1DB3DFE49653}" presName="textRect" presStyleLbl="revTx" presStyleIdx="2" presStyleCnt="4">
        <dgm:presLayoutVars>
          <dgm:chMax val="1"/>
          <dgm:chPref val="1"/>
        </dgm:presLayoutVars>
      </dgm:prSet>
      <dgm:spPr/>
    </dgm:pt>
    <dgm:pt modelId="{A04F06E9-715D-4224-9AD5-ECA75E69C605}" type="pres">
      <dgm:prSet presAssocID="{DF3100DC-21FF-4DDB-A506-14E5F6D499E0}" presName="sibTrans" presStyleCnt="0"/>
      <dgm:spPr/>
    </dgm:pt>
    <dgm:pt modelId="{B4DB0B29-5C37-4456-862A-037AEF973319}" type="pres">
      <dgm:prSet presAssocID="{D4CAECCD-698D-4B9A-806E-A380DC83A2B4}" presName="compNode" presStyleCnt="0"/>
      <dgm:spPr/>
    </dgm:pt>
    <dgm:pt modelId="{52BB6B39-E7AF-44AF-B1EF-F9222B82A59F}" type="pres">
      <dgm:prSet presAssocID="{D4CAECCD-698D-4B9A-806E-A380DC83A2B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AD538EEA-E723-4747-9562-0598353A0D3B}" type="pres">
      <dgm:prSet presAssocID="{D4CAECCD-698D-4B9A-806E-A380DC83A2B4}" presName="spaceRect" presStyleCnt="0"/>
      <dgm:spPr/>
    </dgm:pt>
    <dgm:pt modelId="{8B2B4096-30C0-455A-9C89-C142F25E1714}" type="pres">
      <dgm:prSet presAssocID="{D4CAECCD-698D-4B9A-806E-A380DC83A2B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465CB12-256F-453D-9C7F-92A7F01918E2}" srcId="{5F90766F-D90F-4DA8-97DD-046ADAAB1471}" destId="{132839E5-771E-4514-B086-56B4FD39AF90}" srcOrd="0" destOrd="0" parTransId="{E56387AC-B8C0-4666-A722-42E149E6A9FE}" sibTransId="{9ABACC86-A27E-4953-9DB2-F94005667C0E}"/>
    <dgm:cxn modelId="{622DE93A-101E-7F40-9603-F46FAA421A9D}" type="presOf" srcId="{3710E1B3-12E4-4AA4-8953-1DB3DFE49653}" destId="{8E876F4B-FB06-4AC0-99CB-DBD3225C84C2}" srcOrd="0" destOrd="0" presId="urn:microsoft.com/office/officeart/2018/2/layout/IconLabelList"/>
    <dgm:cxn modelId="{AE50E93A-C430-9240-AF5E-8A5E306492BE}" type="presOf" srcId="{D4CAECCD-698D-4B9A-806E-A380DC83A2B4}" destId="{8B2B4096-30C0-455A-9C89-C142F25E1714}" srcOrd="0" destOrd="0" presId="urn:microsoft.com/office/officeart/2018/2/layout/IconLabelList"/>
    <dgm:cxn modelId="{AC125FA0-8124-40CD-AB79-62839A7CAB05}" srcId="{5F90766F-D90F-4DA8-97DD-046ADAAB1471}" destId="{D4CAECCD-698D-4B9A-806E-A380DC83A2B4}" srcOrd="3" destOrd="0" parTransId="{38BF1E49-56F2-4FB7-B410-6298728BE932}" sibTransId="{2C141EE3-E389-40AA-9482-860B30C75216}"/>
    <dgm:cxn modelId="{07DE0AAD-948D-4213-A7C3-D977EA9FD3E4}" srcId="{5F90766F-D90F-4DA8-97DD-046ADAAB1471}" destId="{007DE456-C881-4F5F-9869-5BCD76F4B49B}" srcOrd="1" destOrd="0" parTransId="{37A488C8-6B76-4FB6-A4D4-D032029E7577}" sibTransId="{6F09FACD-7806-44B9-AA61-F04AF9AC620F}"/>
    <dgm:cxn modelId="{5B7C37D2-BCF6-FE49-A0AB-5C0B78C78BD8}" type="presOf" srcId="{132839E5-771E-4514-B086-56B4FD39AF90}" destId="{EB6FC3D5-DB33-4C01-8E83-9DD16E53A776}" srcOrd="0" destOrd="0" presId="urn:microsoft.com/office/officeart/2018/2/layout/IconLabelList"/>
    <dgm:cxn modelId="{A8052CD9-32B8-4BC8-A43C-D0A3EB6B6E8E}" srcId="{5F90766F-D90F-4DA8-97DD-046ADAAB1471}" destId="{3710E1B3-12E4-4AA4-8953-1DB3DFE49653}" srcOrd="2" destOrd="0" parTransId="{6A567606-E154-4A6F-998D-68845E94797B}" sibTransId="{DF3100DC-21FF-4DDB-A506-14E5F6D499E0}"/>
    <dgm:cxn modelId="{F297BBDC-FD68-9E4E-A63A-29B6B12B79C4}" type="presOf" srcId="{007DE456-C881-4F5F-9869-5BCD76F4B49B}" destId="{5C3F21E8-DA4A-4D12-A95B-43B5F7E70CEA}" srcOrd="0" destOrd="0" presId="urn:microsoft.com/office/officeart/2018/2/layout/IconLabelList"/>
    <dgm:cxn modelId="{237B00F5-F18B-8245-B109-7CD4C582D480}" type="presOf" srcId="{5F90766F-D90F-4DA8-97DD-046ADAAB1471}" destId="{0BF08837-D102-426D-8412-707689272694}" srcOrd="0" destOrd="0" presId="urn:microsoft.com/office/officeart/2018/2/layout/IconLabelList"/>
    <dgm:cxn modelId="{3B89BD36-A3F2-474A-8807-48D04A0FD8C0}" type="presParOf" srcId="{0BF08837-D102-426D-8412-707689272694}" destId="{44F8F656-4259-4D4F-B226-317197E2F276}" srcOrd="0" destOrd="0" presId="urn:microsoft.com/office/officeart/2018/2/layout/IconLabelList"/>
    <dgm:cxn modelId="{250F71B8-D629-C344-BF62-32C6707D39E1}" type="presParOf" srcId="{44F8F656-4259-4D4F-B226-317197E2F276}" destId="{A98B4C88-D89F-4125-AF77-F4402BC1C1A9}" srcOrd="0" destOrd="0" presId="urn:microsoft.com/office/officeart/2018/2/layout/IconLabelList"/>
    <dgm:cxn modelId="{781D04CA-52E7-B542-A6ED-21622ECF2394}" type="presParOf" srcId="{44F8F656-4259-4D4F-B226-317197E2F276}" destId="{2020CED1-FC70-4BFC-8F34-A944154A3FC3}" srcOrd="1" destOrd="0" presId="urn:microsoft.com/office/officeart/2018/2/layout/IconLabelList"/>
    <dgm:cxn modelId="{9B239C10-B4C5-F641-873A-ED3D1FFECE8D}" type="presParOf" srcId="{44F8F656-4259-4D4F-B226-317197E2F276}" destId="{EB6FC3D5-DB33-4C01-8E83-9DD16E53A776}" srcOrd="2" destOrd="0" presId="urn:microsoft.com/office/officeart/2018/2/layout/IconLabelList"/>
    <dgm:cxn modelId="{00590091-6A7D-D645-A29F-08A5CE6450F8}" type="presParOf" srcId="{0BF08837-D102-426D-8412-707689272694}" destId="{245514F1-10EF-4BB3-ADAE-65E6AE1591F8}" srcOrd="1" destOrd="0" presId="urn:microsoft.com/office/officeart/2018/2/layout/IconLabelList"/>
    <dgm:cxn modelId="{BCB5B3AB-B478-BA42-8BB6-1D771D96B95B}" type="presParOf" srcId="{0BF08837-D102-426D-8412-707689272694}" destId="{DDA845F9-B60F-4237-9286-5A80648C657A}" srcOrd="2" destOrd="0" presId="urn:microsoft.com/office/officeart/2018/2/layout/IconLabelList"/>
    <dgm:cxn modelId="{EABF49FF-95D6-534F-ADEF-FB88335B5DBA}" type="presParOf" srcId="{DDA845F9-B60F-4237-9286-5A80648C657A}" destId="{2F00491D-C24A-4461-865C-25D836AE24D0}" srcOrd="0" destOrd="0" presId="urn:microsoft.com/office/officeart/2018/2/layout/IconLabelList"/>
    <dgm:cxn modelId="{876CE241-7350-F143-B04E-69E4F3261DEA}" type="presParOf" srcId="{DDA845F9-B60F-4237-9286-5A80648C657A}" destId="{92B3087F-106D-4C66-BD6E-1CEB4C65D07F}" srcOrd="1" destOrd="0" presId="urn:microsoft.com/office/officeart/2018/2/layout/IconLabelList"/>
    <dgm:cxn modelId="{A0520BC8-29B7-DC4D-B2D4-306C193742BD}" type="presParOf" srcId="{DDA845F9-B60F-4237-9286-5A80648C657A}" destId="{5C3F21E8-DA4A-4D12-A95B-43B5F7E70CEA}" srcOrd="2" destOrd="0" presId="urn:microsoft.com/office/officeart/2018/2/layout/IconLabelList"/>
    <dgm:cxn modelId="{94F3B079-D53A-D54C-AEF2-29BE1F0712E6}" type="presParOf" srcId="{0BF08837-D102-426D-8412-707689272694}" destId="{795563F3-4A02-4215-9D97-C58055ECBF14}" srcOrd="3" destOrd="0" presId="urn:microsoft.com/office/officeart/2018/2/layout/IconLabelList"/>
    <dgm:cxn modelId="{1536E7F3-971F-6641-9D86-905868187F3E}" type="presParOf" srcId="{0BF08837-D102-426D-8412-707689272694}" destId="{5286F697-0A1D-4922-B6CB-70D8322161E7}" srcOrd="4" destOrd="0" presId="urn:microsoft.com/office/officeart/2018/2/layout/IconLabelList"/>
    <dgm:cxn modelId="{04E910C8-AC96-914B-B4B7-92216C49A441}" type="presParOf" srcId="{5286F697-0A1D-4922-B6CB-70D8322161E7}" destId="{090F67DA-7B10-4813-A307-ED1AB3AC01F6}" srcOrd="0" destOrd="0" presId="urn:microsoft.com/office/officeart/2018/2/layout/IconLabelList"/>
    <dgm:cxn modelId="{A3108B21-CC42-E24E-8CFE-9F97A1E9925A}" type="presParOf" srcId="{5286F697-0A1D-4922-B6CB-70D8322161E7}" destId="{7634030F-3DF2-4FE3-BEEF-08326E145427}" srcOrd="1" destOrd="0" presId="urn:microsoft.com/office/officeart/2018/2/layout/IconLabelList"/>
    <dgm:cxn modelId="{630325AB-2F10-D24D-911A-0CB012B065C4}" type="presParOf" srcId="{5286F697-0A1D-4922-B6CB-70D8322161E7}" destId="{8E876F4B-FB06-4AC0-99CB-DBD3225C84C2}" srcOrd="2" destOrd="0" presId="urn:microsoft.com/office/officeart/2018/2/layout/IconLabelList"/>
    <dgm:cxn modelId="{7AF885D2-21FB-E84C-94F6-58C50EB4BB4C}" type="presParOf" srcId="{0BF08837-D102-426D-8412-707689272694}" destId="{A04F06E9-715D-4224-9AD5-ECA75E69C605}" srcOrd="5" destOrd="0" presId="urn:microsoft.com/office/officeart/2018/2/layout/IconLabelList"/>
    <dgm:cxn modelId="{66A2013F-9AB2-8049-B8BF-379A5199ADC5}" type="presParOf" srcId="{0BF08837-D102-426D-8412-707689272694}" destId="{B4DB0B29-5C37-4456-862A-037AEF973319}" srcOrd="6" destOrd="0" presId="urn:microsoft.com/office/officeart/2018/2/layout/IconLabelList"/>
    <dgm:cxn modelId="{BC2BBB8A-2289-DD40-8304-028D0857AAA4}" type="presParOf" srcId="{B4DB0B29-5C37-4456-862A-037AEF973319}" destId="{52BB6B39-E7AF-44AF-B1EF-F9222B82A59F}" srcOrd="0" destOrd="0" presId="urn:microsoft.com/office/officeart/2018/2/layout/IconLabelList"/>
    <dgm:cxn modelId="{9555DC20-CC22-F344-A2B9-3CB39FB149D0}" type="presParOf" srcId="{B4DB0B29-5C37-4456-862A-037AEF973319}" destId="{AD538EEA-E723-4747-9562-0598353A0D3B}" srcOrd="1" destOrd="0" presId="urn:microsoft.com/office/officeart/2018/2/layout/IconLabelList"/>
    <dgm:cxn modelId="{24B94AF5-10A0-1243-87B3-D63653345C46}" type="presParOf" srcId="{B4DB0B29-5C37-4456-862A-037AEF973319}" destId="{8B2B4096-30C0-455A-9C89-C142F25E171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8B4C88-D89F-4125-AF77-F4402BC1C1A9}">
      <dsp:nvSpPr>
        <dsp:cNvPr id="0" name=""/>
        <dsp:cNvSpPr/>
      </dsp:nvSpPr>
      <dsp:spPr>
        <a:xfrm>
          <a:off x="727421" y="356401"/>
          <a:ext cx="1053126" cy="10531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6FC3D5-DB33-4C01-8E83-9DD16E53A776}">
      <dsp:nvSpPr>
        <dsp:cNvPr id="0" name=""/>
        <dsp:cNvSpPr/>
      </dsp:nvSpPr>
      <dsp:spPr>
        <a:xfrm>
          <a:off x="83844" y="1739808"/>
          <a:ext cx="234028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LAYER 3: PROTOCOL LOGIC </a:t>
          </a:r>
        </a:p>
      </dsp:txBody>
      <dsp:txXfrm>
        <a:off x="83844" y="1739808"/>
        <a:ext cx="2340281" cy="720000"/>
      </dsp:txXfrm>
    </dsp:sp>
    <dsp:sp modelId="{2F00491D-C24A-4461-865C-25D836AE24D0}">
      <dsp:nvSpPr>
        <dsp:cNvPr id="0" name=""/>
        <dsp:cNvSpPr/>
      </dsp:nvSpPr>
      <dsp:spPr>
        <a:xfrm>
          <a:off x="3477251" y="356401"/>
          <a:ext cx="1053126" cy="10531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F21E8-DA4A-4D12-A95B-43B5F7E70CEA}">
      <dsp:nvSpPr>
        <dsp:cNvPr id="0" name=""/>
        <dsp:cNvSpPr/>
      </dsp:nvSpPr>
      <dsp:spPr>
        <a:xfrm>
          <a:off x="2833674" y="1739808"/>
          <a:ext cx="234028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TLSClient, TLSServer  TLSMessage, HandshakeState  </a:t>
          </a:r>
        </a:p>
      </dsp:txBody>
      <dsp:txXfrm>
        <a:off x="2833674" y="1739808"/>
        <a:ext cx="2340281" cy="720000"/>
      </dsp:txXfrm>
    </dsp:sp>
    <dsp:sp modelId="{090F67DA-7B10-4813-A307-ED1AB3AC01F6}">
      <dsp:nvSpPr>
        <dsp:cNvPr id="0" name=""/>
        <dsp:cNvSpPr/>
      </dsp:nvSpPr>
      <dsp:spPr>
        <a:xfrm>
          <a:off x="727421" y="3044879"/>
          <a:ext cx="1053126" cy="10531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876F4B-FB06-4AC0-99CB-DBD3225C84C2}">
      <dsp:nvSpPr>
        <dsp:cNvPr id="0" name=""/>
        <dsp:cNvSpPr/>
      </dsp:nvSpPr>
      <dsp:spPr>
        <a:xfrm>
          <a:off x="83844" y="4428286"/>
          <a:ext cx="234028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LAYER 2: CRYPTOGRAPHIC ALGORITHMS:RSA (Authentication), Diffie Hellman (Key Exchange),  KDF(Key Derivation) </a:t>
          </a:r>
        </a:p>
      </dsp:txBody>
      <dsp:txXfrm>
        <a:off x="83844" y="4428286"/>
        <a:ext cx="2340281" cy="720000"/>
      </dsp:txXfrm>
    </dsp:sp>
    <dsp:sp modelId="{52BB6B39-E7AF-44AF-B1EF-F9222B82A59F}">
      <dsp:nvSpPr>
        <dsp:cNvPr id="0" name=""/>
        <dsp:cNvSpPr/>
      </dsp:nvSpPr>
      <dsp:spPr>
        <a:xfrm>
          <a:off x="3477251" y="3044879"/>
          <a:ext cx="1053126" cy="10531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2B4096-30C0-455A-9C89-C142F25E1714}">
      <dsp:nvSpPr>
        <dsp:cNvPr id="0" name=""/>
        <dsp:cNvSpPr/>
      </dsp:nvSpPr>
      <dsp:spPr>
        <a:xfrm>
          <a:off x="2833674" y="4428286"/>
          <a:ext cx="234028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LAYER 1: MATHEMATICAL PRIMITIVES  MathUtils (Modular arithmetic,  Prime generation), ByteUtils</a:t>
          </a:r>
        </a:p>
      </dsp:txBody>
      <dsp:txXfrm>
        <a:off x="2833674" y="4428286"/>
        <a:ext cx="2340281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FE2E-656B-C64F-B276-1C44573D1C90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EA8F3-B787-3A45-85EF-8633472F1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332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FE2E-656B-C64F-B276-1C44573D1C90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EA8F3-B787-3A45-85EF-8633472F1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99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FE2E-656B-C64F-B276-1C44573D1C90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EA8F3-B787-3A45-85EF-8633472F1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17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FE2E-656B-C64F-B276-1C44573D1C90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EA8F3-B787-3A45-85EF-8633472F1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776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FE2E-656B-C64F-B276-1C44573D1C90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EA8F3-B787-3A45-85EF-8633472F1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8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FE2E-656B-C64F-B276-1C44573D1C90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EA8F3-B787-3A45-85EF-8633472F1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56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FE2E-656B-C64F-B276-1C44573D1C90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EA8F3-B787-3A45-85EF-8633472F1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709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FE2E-656B-C64F-B276-1C44573D1C90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EA8F3-B787-3A45-85EF-8633472F1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933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FE2E-656B-C64F-B276-1C44573D1C90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EA8F3-B787-3A45-85EF-8633472F1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29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FE2E-656B-C64F-B276-1C44573D1C90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EA8F3-B787-3A45-85EF-8633472F1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23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FE2E-656B-C64F-B276-1C44573D1C90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EA8F3-B787-3A45-85EF-8633472F1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60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8FE2E-656B-C64F-B276-1C44573D1C90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EA8F3-B787-3A45-85EF-8633472F1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52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60" r:id="rId1"/>
    <p:sldLayoutId id="2147484361" r:id="rId2"/>
    <p:sldLayoutId id="2147484362" r:id="rId3"/>
    <p:sldLayoutId id="2147484363" r:id="rId4"/>
    <p:sldLayoutId id="2147484364" r:id="rId5"/>
    <p:sldLayoutId id="2147484365" r:id="rId6"/>
    <p:sldLayoutId id="2147484366" r:id="rId7"/>
    <p:sldLayoutId id="2147484367" r:id="rId8"/>
    <p:sldLayoutId id="2147484368" r:id="rId9"/>
    <p:sldLayoutId id="2147484369" r:id="rId10"/>
    <p:sldLayoutId id="21474843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F75AD06-DFC4-4B3A-8490-330823D0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587C93-0840-40DF-96D5-D1F2137E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094862-E556-4879-64D3-D39705645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01859"/>
            <a:ext cx="4130185" cy="4054282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TLS Handshake Protocol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E02D55A-F529-4B19-BAF9-F63240A7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3839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0367E3C-3947-493D-9458-5955DB20A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E8D9785-21DB-4CE6-B138-2999AD61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3AA5AD5-8F29-4165-8112-305DDDDDD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A4EC0CF-F38F-4D7F-B48D-9A26E814D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A2D53-AD9A-D9ED-41B3-F552A3BA1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0" y="1553134"/>
            <a:ext cx="6128539" cy="3751732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Yamini Buyya </a:t>
            </a:r>
          </a:p>
          <a:p>
            <a:r>
              <a:rPr lang="en-US" sz="1800" dirty="0">
                <a:solidFill>
                  <a:schemeClr val="tx2"/>
                </a:solidFill>
              </a:rPr>
              <a:t>Student ID: 801482615</a:t>
            </a:r>
          </a:p>
          <a:p>
            <a:r>
              <a:rPr lang="en-US" sz="1800" dirty="0">
                <a:solidFill>
                  <a:schemeClr val="tx2"/>
                </a:solidFill>
              </a:rPr>
              <a:t>Principles of Information Security (PISP)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7A3A52F-BCB3-444D-9372-EE018B135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535970" y="4114799"/>
            <a:ext cx="3655725" cy="2743201"/>
            <a:chOff x="-305" y="-1"/>
            <a:chExt cx="3832880" cy="2876136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1E32C13-DED6-4967-85B8-68DD77103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8DDA515-BC6A-47FB-951E-E1E792875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97EEFA7-6787-4EC0-8284-6D3D27306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9621AC-50AB-4B43-896D-78FE571A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3864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9" name="Rectangle 10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5A2099-90F3-F375-5D8C-972CB60F7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WHY THIS PROJECT?</a:t>
            </a:r>
          </a:p>
        </p:txBody>
      </p:sp>
      <p:sp>
        <p:nvSpPr>
          <p:cNvPr id="104" name="Content Placeholder 2">
            <a:extLst>
              <a:ext uri="{FF2B5EF4-FFF2-40B4-BE49-F238E27FC236}">
                <a16:creationId xmlns:a16="http://schemas.microsoft.com/office/drawing/2014/main" id="{FA0F28F7-22D0-17CC-A804-F8B03C69D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400" b="1" dirty="0">
                <a:solidFill>
                  <a:schemeClr val="tx2"/>
                </a:solidFill>
              </a:rPr>
              <a:t>THE PROBLEM </a:t>
            </a:r>
            <a:r>
              <a:rPr lang="en-US" sz="1400" dirty="0">
                <a:solidFill>
                  <a:schemeClr val="tx2"/>
                </a:solidFill>
              </a:rPr>
              <a:t>: How do two parties communicate securely over  an insecure network when they've never met?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>
                <a:solidFill>
                  <a:schemeClr val="tx2"/>
                </a:solidFill>
              </a:rPr>
              <a:t>THE SOLUTION</a:t>
            </a:r>
            <a:r>
              <a:rPr lang="en-US" sz="1400" dirty="0">
                <a:solidFill>
                  <a:schemeClr val="tx2"/>
                </a:solidFill>
              </a:rPr>
              <a:t>: TLS Handshake Protocol 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>
                <a:solidFill>
                  <a:schemeClr val="tx2"/>
                </a:solidFill>
              </a:rPr>
              <a:t>REAL-WORLD APPLICATIONS</a:t>
            </a:r>
            <a:r>
              <a:rPr lang="en-US" sz="1400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HTTPS websites (billions daily) ,Online banking, Email encryption ,VPN connections 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>
                <a:solidFill>
                  <a:schemeClr val="tx2"/>
                </a:solidFill>
              </a:rPr>
              <a:t>PROJECT GOAL </a:t>
            </a:r>
            <a:r>
              <a:rPr lang="en-US" sz="1400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 Build TLS from scratch to understand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 How authentication works (RSA)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 How key exchange works (Diffie-Hellman)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 How encryption secures data</a:t>
            </a:r>
          </a:p>
        </p:txBody>
      </p:sp>
    </p:spTree>
    <p:extLst>
      <p:ext uri="{BB962C8B-B14F-4D97-AF65-F5344CB8AC3E}">
        <p14:creationId xmlns:p14="http://schemas.microsoft.com/office/powerpoint/2010/main" val="3430766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1" name="Rectangle 120">
            <a:extLst>
              <a:ext uri="{FF2B5EF4-FFF2-40B4-BE49-F238E27FC236}">
                <a16:creationId xmlns:a16="http://schemas.microsoft.com/office/drawing/2014/main" id="{5628E5CB-913B-4378-97CE-18C9F6410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4F9FA3-E514-C967-67FB-4B0A0C70F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4862848" cy="5569291"/>
          </a:xfrm>
        </p:spPr>
        <p:txBody>
          <a:bodyPr>
            <a:normAutofit/>
          </a:bodyPr>
          <a:lstStyle/>
          <a:p>
            <a:r>
              <a:rPr lang="en-US" sz="5200" dirty="0"/>
              <a:t>THREE LAYER ARCHITECTURE </a:t>
            </a:r>
          </a:p>
        </p:txBody>
      </p:sp>
      <p:graphicFrame>
        <p:nvGraphicFramePr>
          <p:cNvPr id="91" name="Content Placeholder 2">
            <a:extLst>
              <a:ext uri="{FF2B5EF4-FFF2-40B4-BE49-F238E27FC236}">
                <a16:creationId xmlns:a16="http://schemas.microsoft.com/office/drawing/2014/main" id="{86CF4798-A74D-16E0-13A0-4117533F7A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0082157"/>
              </p:ext>
            </p:extLst>
          </p:nvPr>
        </p:nvGraphicFramePr>
        <p:xfrm>
          <a:off x="6099048" y="621792"/>
          <a:ext cx="525780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1347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24037-E2DB-2F43-2BCB-AE3BB91CF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3931"/>
            <a:ext cx="3143250" cy="2601119"/>
          </a:xfrm>
        </p:spPr>
        <p:txBody>
          <a:bodyPr anchor="t">
            <a:normAutofit/>
          </a:bodyPr>
          <a:lstStyle/>
          <a:p>
            <a:pPr algn="ctr"/>
            <a:r>
              <a:rPr lang="en-US" sz="4000" dirty="0"/>
              <a:t>Layer 1  Mathematical Foundation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7DD16-BC7C-394D-F477-BCEB518C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0652" y="730249"/>
            <a:ext cx="7153147" cy="538480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b="1" dirty="0"/>
              <a:t>MathUtils - BUILDING BLOCKS</a:t>
            </a:r>
          </a:p>
          <a:p>
            <a:pPr marL="0" indent="0">
              <a:buNone/>
            </a:pPr>
            <a:endParaRPr lang="en-US" sz="1400" b="1" dirty="0"/>
          </a:p>
          <a:p>
            <a:pPr>
              <a:buFont typeface="Wingdings" pitchFamily="2" charset="2"/>
              <a:buChar char="Ø"/>
            </a:pPr>
            <a:r>
              <a:rPr lang="en-US" sz="1400" b="1" dirty="0"/>
              <a:t>MODULAR EXPONENTIATION ALGORITHM:</a:t>
            </a:r>
          </a:p>
          <a:p>
            <a:pPr lvl="1"/>
            <a:r>
              <a:rPr lang="en-US" sz="1400" dirty="0"/>
              <a:t>Repeated Squaring  Function: modPow(base, exp, mod) </a:t>
            </a:r>
          </a:p>
          <a:p>
            <a:pPr lvl="1"/>
            <a:r>
              <a:rPr lang="en-US" sz="1400" dirty="0"/>
              <a:t>Example: 3^13 mod 7 = 3 </a:t>
            </a:r>
          </a:p>
          <a:p>
            <a:pPr lvl="1"/>
            <a:r>
              <a:rPr lang="en-US" sz="1400" dirty="0"/>
              <a:t>Complexity: O(log n) instead of O(n)</a:t>
            </a:r>
          </a:p>
          <a:p>
            <a:pPr marL="0" indent="0">
              <a:buNone/>
            </a:pPr>
            <a:endParaRPr lang="en-US" sz="1400" dirty="0"/>
          </a:p>
          <a:p>
            <a:pPr>
              <a:buFont typeface="Wingdings" pitchFamily="2" charset="2"/>
              <a:buChar char="Ø"/>
            </a:pPr>
            <a:r>
              <a:rPr lang="en-US" sz="1400" dirty="0"/>
              <a:t> </a:t>
            </a:r>
            <a:r>
              <a:rPr lang="en-US" sz="1400" b="1" dirty="0"/>
              <a:t>PRIME NUMBER GENERATION ALGORITHM </a:t>
            </a:r>
            <a:r>
              <a:rPr lang="en-US" sz="1400" dirty="0"/>
              <a:t>: Miller-Rabin Primality Test </a:t>
            </a:r>
          </a:p>
          <a:p>
            <a:pPr lvl="1"/>
            <a:r>
              <a:rPr lang="en-US" sz="1400" dirty="0"/>
              <a:t>Function: isProbablePrime(n, iterations) the Accuracy: 99.9999% with 10 iterations </a:t>
            </a:r>
          </a:p>
          <a:p>
            <a:pPr lvl="1"/>
            <a:r>
              <a:rPr lang="en-US" sz="1400" dirty="0"/>
              <a:t>Usage: Generate RSA primes (p, q) </a:t>
            </a:r>
          </a:p>
          <a:p>
            <a:pPr marL="0" indent="0">
              <a:buNone/>
            </a:pPr>
            <a:endParaRPr lang="en-US" sz="1400" dirty="0"/>
          </a:p>
          <a:p>
            <a:pPr>
              <a:buFont typeface="Wingdings" pitchFamily="2" charset="2"/>
              <a:buChar char="Ø"/>
            </a:pPr>
            <a:r>
              <a:rPr lang="en-US" sz="1400" b="1" dirty="0"/>
              <a:t>MODULAR INVERSE ALGORITHM : </a:t>
            </a:r>
            <a:r>
              <a:rPr lang="en-US" sz="1400" dirty="0"/>
              <a:t>Extended Euclidean Algorithm </a:t>
            </a:r>
          </a:p>
          <a:p>
            <a:pPr lvl="1"/>
            <a:r>
              <a:rPr lang="en-US" sz="1400" dirty="0"/>
              <a:t>Function: modInverse(a, m) </a:t>
            </a:r>
          </a:p>
          <a:p>
            <a:pPr lvl="1"/>
            <a:r>
              <a:rPr lang="en-US" sz="1400" dirty="0"/>
              <a:t>Purpose: Compute RSA private key d </a:t>
            </a:r>
          </a:p>
          <a:p>
            <a:pPr>
              <a:buFontTx/>
              <a:buChar char="-"/>
            </a:pPr>
            <a:endParaRPr lang="en-US" sz="1400" dirty="0"/>
          </a:p>
          <a:p>
            <a:pPr>
              <a:buFont typeface="Wingdings" pitchFamily="2" charset="2"/>
              <a:buChar char="Ø"/>
            </a:pPr>
            <a:r>
              <a:rPr lang="en-US" sz="1400" b="1" dirty="0"/>
              <a:t>WHY THESE MATTER </a:t>
            </a:r>
          </a:p>
          <a:p>
            <a:pPr lvl="1"/>
            <a:r>
              <a:rPr lang="en-US" sz="1400" dirty="0"/>
              <a:t>All of RSA and DH depend on these operations! </a:t>
            </a:r>
          </a:p>
        </p:txBody>
      </p:sp>
      <p:pic>
        <p:nvPicPr>
          <p:cNvPr id="7" name="Graphic 6" descr="Mathematics">
            <a:extLst>
              <a:ext uri="{FF2B5EF4-FFF2-40B4-BE49-F238E27FC236}">
                <a16:creationId xmlns:a16="http://schemas.microsoft.com/office/drawing/2014/main" id="{22EF7BF1-B34E-A151-73D2-1D6C5E18F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1200" y="24296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32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8C72F7-2F0C-A808-6113-F5DA4F0CA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3505199"/>
            <a:ext cx="4809068" cy="2608143"/>
          </a:xfrm>
        </p:spPr>
        <p:txBody>
          <a:bodyPr anchor="t">
            <a:normAutofit/>
          </a:bodyPr>
          <a:lstStyle/>
          <a:p>
            <a:pPr algn="ctr"/>
            <a:r>
              <a:rPr lang="en-US" sz="4000" dirty="0"/>
              <a:t>Layer 2-Part A </a:t>
            </a:r>
            <a:br>
              <a:rPr lang="en-US" sz="4000" dirty="0"/>
            </a:br>
            <a:r>
              <a:rPr lang="en-US" sz="4000" dirty="0"/>
              <a:t>RSA Authentication</a:t>
            </a:r>
          </a:p>
        </p:txBody>
      </p:sp>
      <p:pic>
        <p:nvPicPr>
          <p:cNvPr id="15" name="Graphic 14" descr="Key">
            <a:extLst>
              <a:ext uri="{FF2B5EF4-FFF2-40B4-BE49-F238E27FC236}">
                <a16:creationId xmlns:a16="http://schemas.microsoft.com/office/drawing/2014/main" id="{9FE5B9EC-036A-1F0D-DF1C-E346CBF91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0799" y="2519363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85E8F-7B95-CAF6-F3F8-B6A8AD58A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100" y="643467"/>
            <a:ext cx="5668433" cy="540173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b="1" dirty="0"/>
              <a:t>RSA - SERVER AUTHENTICATION 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/>
              <a:t>RSA KEY GENERATION </a:t>
            </a:r>
          </a:p>
          <a:p>
            <a:pPr lvl="1"/>
            <a:r>
              <a:rPr lang="en-US" sz="1400" dirty="0"/>
              <a:t>1. Generate two primes: p, q </a:t>
            </a:r>
          </a:p>
          <a:p>
            <a:pPr lvl="1"/>
            <a:r>
              <a:rPr lang="en-US" sz="1400" dirty="0"/>
              <a:t>2. Compute n = p × q </a:t>
            </a:r>
          </a:p>
          <a:p>
            <a:pPr lvl="1"/>
            <a:r>
              <a:rPr lang="en-US" sz="1400" dirty="0"/>
              <a:t>3. Compute </a:t>
            </a:r>
            <a:r>
              <a:rPr lang="el-GR" sz="1400" dirty="0"/>
              <a:t>φ(</a:t>
            </a:r>
            <a:r>
              <a:rPr lang="en-US" sz="1400" dirty="0"/>
              <a:t>n) = (p-1)(q-1) </a:t>
            </a:r>
          </a:p>
          <a:p>
            <a:pPr lvl="1"/>
            <a:r>
              <a:rPr lang="en-US" sz="1400" dirty="0"/>
              <a:t> 4. Choose e = 65537 </a:t>
            </a:r>
          </a:p>
          <a:p>
            <a:pPr lvl="1"/>
            <a:r>
              <a:rPr lang="en-US" sz="1400" dirty="0"/>
              <a:t> 5. Compute d = e⁻¹ mod </a:t>
            </a:r>
            <a:r>
              <a:rPr lang="el-GR" sz="1400" dirty="0"/>
              <a:t>φ(</a:t>
            </a:r>
            <a:r>
              <a:rPr lang="en-US" sz="1400" dirty="0"/>
              <a:t>n) </a:t>
            </a:r>
          </a:p>
          <a:p>
            <a:pPr lvl="1"/>
            <a:r>
              <a:rPr lang="en-US" sz="1400" dirty="0"/>
              <a:t> Public Key: (e, n) → Send to client </a:t>
            </a:r>
          </a:p>
          <a:p>
            <a:pPr lvl="1"/>
            <a:r>
              <a:rPr lang="en-US" sz="1400" dirty="0"/>
              <a:t> Private Key: (d, n) → Keep secret 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/>
              <a:t>WHY RSA? </a:t>
            </a:r>
          </a:p>
          <a:p>
            <a:pPr lvl="1"/>
            <a:r>
              <a:rPr lang="en-US" sz="1400" dirty="0"/>
              <a:t> Proves server identity , Public key can be shared safely , Security based on factoring difficulty 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/>
              <a:t>SECURITY </a:t>
            </a:r>
          </a:p>
          <a:p>
            <a:pPr lvl="1"/>
            <a:r>
              <a:rPr lang="en-US" sz="1400" dirty="0"/>
              <a:t>Factoring 2048-bit: Millions of years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40689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0FA0CE-AE8D-94CC-6BC4-C7E837E53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3505199"/>
            <a:ext cx="4809068" cy="2608143"/>
          </a:xfrm>
        </p:spPr>
        <p:txBody>
          <a:bodyPr anchor="t">
            <a:normAutofit/>
          </a:bodyPr>
          <a:lstStyle/>
          <a:p>
            <a:pPr algn="ctr"/>
            <a:r>
              <a:rPr lang="en-US" sz="4000" dirty="0"/>
              <a:t>Layer 2-Part B </a:t>
            </a:r>
            <a:br>
              <a:rPr lang="en-US" sz="4000" dirty="0"/>
            </a:br>
            <a:r>
              <a:rPr lang="en-US" sz="4000" dirty="0"/>
              <a:t> Diffie-Hellman Key Exchange</a:t>
            </a:r>
          </a:p>
        </p:txBody>
      </p:sp>
      <p:pic>
        <p:nvPicPr>
          <p:cNvPr id="7" name="Graphic 6" descr="Key">
            <a:extLst>
              <a:ext uri="{FF2B5EF4-FFF2-40B4-BE49-F238E27FC236}">
                <a16:creationId xmlns:a16="http://schemas.microsoft.com/office/drawing/2014/main" id="{FFC12240-1A23-26CE-D6A1-7B0FBC75A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0799" y="2519363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3DFB2-FAE2-637A-D8FF-B03163364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100" y="643467"/>
            <a:ext cx="5668433" cy="540173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b="1" dirty="0"/>
              <a:t>DIFFIE HELLMAN- SECURE KEY EXCHANGE </a:t>
            </a:r>
          </a:p>
          <a:p>
            <a:pPr>
              <a:buFont typeface="Wingdings" pitchFamily="2" charset="2"/>
              <a:buChar char="Ø"/>
            </a:pPr>
            <a:r>
              <a:rPr lang="en-US" sz="1400" dirty="0"/>
              <a:t> </a:t>
            </a:r>
            <a:r>
              <a:rPr lang="en-US" sz="1400" b="1" dirty="0"/>
              <a:t>THE MAGIC OF DIFFIE-HELLMAN </a:t>
            </a:r>
          </a:p>
          <a:p>
            <a:pPr marL="457200" lvl="1" indent="0">
              <a:buNone/>
            </a:pPr>
            <a:r>
              <a:rPr lang="en-US" sz="1400" dirty="0"/>
              <a:t>Public Parameters (known to everyone)</a:t>
            </a:r>
          </a:p>
          <a:p>
            <a:pPr lvl="1"/>
            <a:r>
              <a:rPr lang="en-US" sz="1400" dirty="0"/>
              <a:t>p = large prime </a:t>
            </a:r>
          </a:p>
          <a:p>
            <a:pPr lvl="1"/>
            <a:r>
              <a:rPr lang="en-US" sz="1400" dirty="0"/>
              <a:t> g = generator 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/>
              <a:t> SERVER</a:t>
            </a:r>
            <a:r>
              <a:rPr lang="en-US" sz="1400" dirty="0"/>
              <a:t>: server_private = random, server_public = g^server_private mod p 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/>
              <a:t> CLIENT</a:t>
            </a:r>
            <a:r>
              <a:rPr lang="en-US" sz="1400" dirty="0"/>
              <a:t>:  client_private = random,client_public = g^client_private mod p</a:t>
            </a:r>
          </a:p>
          <a:p>
            <a:pPr lvl="1"/>
            <a:r>
              <a:rPr lang="en-US" sz="1400" dirty="0"/>
              <a:t> Exchange public keys over network 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/>
              <a:t>SERVER SECRET </a:t>
            </a:r>
            <a:r>
              <a:rPr lang="en-US" sz="1400" dirty="0"/>
              <a:t>= client_public^server_private mod p 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/>
              <a:t>CLIENT SECRET</a:t>
            </a:r>
            <a:r>
              <a:rPr lang="en-US" sz="1400" dirty="0"/>
              <a:t>= server_public^client_private mod p </a:t>
            </a:r>
          </a:p>
          <a:p>
            <a:pPr lvl="1"/>
            <a:r>
              <a:rPr lang="en-US" sz="1400" dirty="0"/>
              <a:t>SAME SECRET! But Eve can't compute it! 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/>
              <a:t>PERFECT FORWARD SECRECY </a:t>
            </a:r>
          </a:p>
          <a:p>
            <a:pPr lvl="1"/>
            <a:r>
              <a:rPr lang="en-US" sz="1400" dirty="0"/>
              <a:t> New DH keys each session → Past sessions secure</a:t>
            </a:r>
          </a:p>
        </p:txBody>
      </p:sp>
    </p:spTree>
    <p:extLst>
      <p:ext uri="{BB962C8B-B14F-4D97-AF65-F5344CB8AC3E}">
        <p14:creationId xmlns:p14="http://schemas.microsoft.com/office/powerpoint/2010/main" val="3390059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B8CDB7-DAC6-3421-188E-C1258BE13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3505199"/>
            <a:ext cx="4809068" cy="2608143"/>
          </a:xfrm>
        </p:spPr>
        <p:txBody>
          <a:bodyPr anchor="t">
            <a:normAutofit/>
          </a:bodyPr>
          <a:lstStyle/>
          <a:p>
            <a:pPr algn="ctr"/>
            <a:r>
              <a:rPr lang="en-US" sz="4000" b="1" dirty="0"/>
              <a:t>Layer 2-Part C </a:t>
            </a:r>
            <a:br>
              <a:rPr lang="en-US" sz="4000" b="1" dirty="0"/>
            </a:br>
            <a:r>
              <a:rPr lang="en-US" sz="4000" b="1" dirty="0"/>
              <a:t>Key Derivation</a:t>
            </a:r>
          </a:p>
        </p:txBody>
      </p:sp>
      <p:pic>
        <p:nvPicPr>
          <p:cNvPr id="7" name="Graphic 6" descr="Key">
            <a:extLst>
              <a:ext uri="{FF2B5EF4-FFF2-40B4-BE49-F238E27FC236}">
                <a16:creationId xmlns:a16="http://schemas.microsoft.com/office/drawing/2014/main" id="{F03FD546-E80B-A1CB-7C72-7EC5872E1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0799" y="2519363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31F60-CB08-F2FB-EA75-B6ECD1245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100" y="643467"/>
            <a:ext cx="5668433" cy="540173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b="1" dirty="0"/>
              <a:t>KDF - SESSION KEY DERIVATION 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/>
              <a:t>WHY KEY DERIVATION? Can't use DH shared secret directly!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/>
              <a:t>Problems with direct use: </a:t>
            </a:r>
          </a:p>
          <a:p>
            <a:pPr lvl="1"/>
            <a:r>
              <a:rPr lang="en-US" sz="1400" dirty="0"/>
              <a:t>Wrong format (BigInteger, not bytes)</a:t>
            </a:r>
          </a:p>
          <a:p>
            <a:pPr lvl="1"/>
            <a:r>
              <a:rPr lang="en-US" sz="1400" dirty="0"/>
              <a:t>Need TWO keys (encryption + MAC)</a:t>
            </a:r>
          </a:p>
          <a:p>
            <a:pPr lvl="1"/>
            <a:r>
              <a:rPr lang="en-US" sz="1400" dirty="0"/>
              <a:t>Vulnerable to brute force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/>
              <a:t>SOLUTION: KDF (Key Derivation Function)</a:t>
            </a:r>
          </a:p>
          <a:p>
            <a:pPr marL="457200" lvl="1" indent="0">
              <a:buNone/>
            </a:pPr>
            <a:r>
              <a:rPr lang="en-US" sz="1400" dirty="0"/>
              <a:t>       shared_secret  </a:t>
            </a:r>
          </a:p>
          <a:p>
            <a:pPr marL="457200" lvl="1" indent="0">
              <a:buNone/>
            </a:pPr>
            <a:r>
              <a:rPr lang="en-US" sz="1400" dirty="0"/>
              <a:t>               ↓ </a:t>
            </a:r>
          </a:p>
          <a:p>
            <a:pPr marL="457200" lvl="1" indent="0">
              <a:buNone/>
            </a:pPr>
            <a:r>
              <a:rPr lang="en-US" sz="1400" dirty="0"/>
              <a:t>       [Hash 10,000 times]</a:t>
            </a:r>
          </a:p>
          <a:p>
            <a:pPr marL="457200" lvl="1" indent="0">
              <a:buNone/>
            </a:pPr>
            <a:r>
              <a:rPr lang="en-US" sz="1400" dirty="0"/>
              <a:t>               ↓ </a:t>
            </a:r>
          </a:p>
          <a:p>
            <a:pPr marL="457200" lvl="1" indent="0">
              <a:buNone/>
            </a:pPr>
            <a:r>
              <a:rPr lang="en-US" sz="1400" dirty="0"/>
              <a:t>       master_key (32 bytes) </a:t>
            </a:r>
          </a:p>
          <a:p>
            <a:pPr marL="457200" lvl="1" indent="0">
              <a:buNone/>
            </a:pPr>
            <a:r>
              <a:rPr lang="en-US" sz="1400" dirty="0"/>
              <a:t>               ↓ </a:t>
            </a:r>
          </a:p>
          <a:p>
            <a:pPr marL="457200" lvl="1" indent="0">
              <a:buNone/>
            </a:pPr>
            <a:r>
              <a:rPr lang="en-US" sz="1400" dirty="0"/>
              <a:t>   Split into two keys:   encryption_key (16 bytes) ,MAC_key (16 bytes) 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/>
              <a:t>BENEFITS:</a:t>
            </a:r>
          </a:p>
          <a:p>
            <a:pPr lvl="1"/>
            <a:r>
              <a:rPr lang="en-US" sz="1400" dirty="0"/>
              <a:t> Proper format for encryption </a:t>
            </a:r>
          </a:p>
          <a:p>
            <a:pPr lvl="1"/>
            <a:r>
              <a:rPr lang="en-US" sz="1400" dirty="0"/>
              <a:t> Separate keys (security best practice) </a:t>
            </a:r>
          </a:p>
          <a:p>
            <a:pPr lvl="1"/>
            <a:r>
              <a:rPr lang="en-US" sz="1400" dirty="0"/>
              <a:t> 10,000 iterations slow down brute force</a:t>
            </a:r>
          </a:p>
        </p:txBody>
      </p:sp>
    </p:spTree>
    <p:extLst>
      <p:ext uri="{BB962C8B-B14F-4D97-AF65-F5344CB8AC3E}">
        <p14:creationId xmlns:p14="http://schemas.microsoft.com/office/powerpoint/2010/main" val="300060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388D56-A73A-E88A-5583-C5D466BE5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3505199"/>
            <a:ext cx="4809068" cy="2608143"/>
          </a:xfrm>
        </p:spPr>
        <p:txBody>
          <a:bodyPr anchor="t">
            <a:normAutofit/>
          </a:bodyPr>
          <a:lstStyle/>
          <a:p>
            <a:pPr algn="ctr"/>
            <a:r>
              <a:rPr lang="en-US" sz="4000"/>
              <a:t>Layer 3 - Protocol Implementation</a:t>
            </a:r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3E7AD1F5-399E-76F2-43D3-86A2E7871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0799" y="2519363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DFF4C-CDED-461C-8E8D-E607B03C7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100" y="643467"/>
            <a:ext cx="5668433" cy="540173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b="1" dirty="0"/>
              <a:t>PROTOCOL LAYER - MESSAGE HANDLING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/>
              <a:t>TLSMessage</a:t>
            </a:r>
          </a:p>
          <a:p>
            <a:pPr lvl="1"/>
            <a:r>
              <a:rPr lang="en-US" sz="1400" dirty="0"/>
              <a:t>Defines 7 message types </a:t>
            </a:r>
          </a:p>
          <a:p>
            <a:pPr lvl="1"/>
            <a:r>
              <a:rPr lang="en-US" sz="1400" dirty="0"/>
              <a:t>Binary format: [Type][Length][Payload] </a:t>
            </a:r>
          </a:p>
          <a:p>
            <a:pPr lvl="1"/>
            <a:r>
              <a:rPr lang="en-US" sz="1400" dirty="0"/>
              <a:t> Serialization for network transmission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/>
              <a:t>HandshakeState -State machine (9 states) </a:t>
            </a:r>
          </a:p>
          <a:p>
            <a:pPr lvl="1"/>
            <a:r>
              <a:rPr lang="en-US" sz="1400" dirty="0"/>
              <a:t> Tracks handshake progress </a:t>
            </a:r>
          </a:p>
          <a:p>
            <a:pPr lvl="1"/>
            <a:r>
              <a:rPr lang="en-US" sz="1400" dirty="0"/>
              <a:t> Stores cryptographic materials</a:t>
            </a:r>
          </a:p>
          <a:p>
            <a:pPr lvl="1"/>
            <a:r>
              <a:rPr lang="en-US" sz="1400" dirty="0"/>
              <a:t>Validates message order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/>
              <a:t>State Flow</a:t>
            </a:r>
          </a:p>
          <a:p>
            <a:pPr marL="0" indent="0">
              <a:buNone/>
            </a:pPr>
            <a:r>
              <a:rPr lang="en-US" sz="1400" dirty="0"/>
              <a:t> IDLE → CLIENT_HELLO_SENT → SERVER_HELLO_RECEIVED  → SERVER_CERT_RECEIVED → CLIENT_KEY_EXCHANGE_SENT  → FINISHED_SENT → FINISHED_RECEIVED  → HANDSHAKE_COMPLETE 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/>
              <a:t>WHY STATE MACHINE? </a:t>
            </a:r>
          </a:p>
          <a:p>
            <a:pPr lvl="1"/>
            <a:r>
              <a:rPr lang="en-US" sz="1400" dirty="0"/>
              <a:t>Security! Prevents out-of-order or replay attacks </a:t>
            </a:r>
          </a:p>
        </p:txBody>
      </p:sp>
    </p:spTree>
    <p:extLst>
      <p:ext uri="{BB962C8B-B14F-4D97-AF65-F5344CB8AC3E}">
        <p14:creationId xmlns:p14="http://schemas.microsoft.com/office/powerpoint/2010/main" val="2611311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60520-F688-96D0-4CB5-6CCF5D5BA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3505199"/>
            <a:ext cx="4809068" cy="2608143"/>
          </a:xfrm>
        </p:spPr>
        <p:txBody>
          <a:bodyPr anchor="t">
            <a:normAutofit/>
          </a:bodyPr>
          <a:lstStyle/>
          <a:p>
            <a:pPr algn="ctr"/>
            <a:r>
              <a:rPr lang="en-US" sz="4000" dirty="0"/>
              <a:t>The Complete TLS Handshake </a:t>
            </a:r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B4B39356-CE32-8148-99DF-980C331E2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0799" y="2519363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2AB36-5036-6BFF-695F-A76A8013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100" y="643467"/>
            <a:ext cx="5668433" cy="540173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b="1" dirty="0"/>
              <a:t>6 PHASES OF TLS HANDSHAKE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Phase 1: SERVER INITIALIZATION </a:t>
            </a:r>
          </a:p>
          <a:p>
            <a:pPr lvl="1"/>
            <a:r>
              <a:rPr lang="en-US" sz="1400" dirty="0"/>
              <a:t> Server generates RSA key pair </a:t>
            </a:r>
          </a:p>
          <a:p>
            <a:pPr marL="0" indent="0">
              <a:buNone/>
            </a:pPr>
            <a:r>
              <a:rPr lang="en-US" sz="1400" b="1" dirty="0"/>
              <a:t>Phase 2: CLIENT HELLO </a:t>
            </a:r>
          </a:p>
          <a:p>
            <a:pPr lvl="1"/>
            <a:r>
              <a:rPr lang="en-US" sz="1400" dirty="0"/>
              <a:t> Client → [CLIENT_HELLO + 32-byte random] → Server</a:t>
            </a:r>
          </a:p>
          <a:p>
            <a:pPr marL="0" indent="0">
              <a:buNone/>
            </a:pPr>
            <a:r>
              <a:rPr lang="en-US" sz="1400" b="1" dirty="0"/>
              <a:t>Phase 3: SERVER HELLO + CERTIFICATE </a:t>
            </a:r>
          </a:p>
          <a:p>
            <a:pPr lvl="1"/>
            <a:r>
              <a:rPr lang="en-US" sz="1400" dirty="0"/>
              <a:t> Server → [SERVER_HELLO + 32-byte random] </a:t>
            </a:r>
          </a:p>
          <a:p>
            <a:pPr lvl="1"/>
            <a:r>
              <a:rPr lang="en-US" sz="1400" dirty="0"/>
              <a:t>Server → [CERTIFICATE with RSA pub + DH params]</a:t>
            </a:r>
          </a:p>
          <a:p>
            <a:pPr marL="0" indent="0">
              <a:buNone/>
            </a:pPr>
            <a:r>
              <a:rPr lang="en-US" sz="1400" b="1" dirty="0"/>
              <a:t>Phase 4: CLIENT KEY EXCHANGE </a:t>
            </a:r>
          </a:p>
          <a:p>
            <a:pPr lvl="1"/>
            <a:r>
              <a:rPr lang="en-US" sz="1400" dirty="0"/>
              <a:t> Client generates DH keys, computes shared secret </a:t>
            </a:r>
          </a:p>
          <a:p>
            <a:pPr lvl="1"/>
            <a:r>
              <a:rPr lang="en-US" sz="1400" dirty="0"/>
              <a:t> Client → [CLIENT_KEY_EXCHANGE + DH public]</a:t>
            </a:r>
          </a:p>
          <a:p>
            <a:pPr marL="0" indent="0">
              <a:buNone/>
            </a:pPr>
            <a:r>
              <a:rPr lang="en-US" sz="1400" b="1" dirty="0"/>
              <a:t>Phase 5: FINALIZING HANDSHAKE </a:t>
            </a:r>
          </a:p>
          <a:p>
            <a:pPr lvl="1"/>
            <a:r>
              <a:rPr lang="en-US" sz="1400" dirty="0"/>
              <a:t> Server computes shared secret, both derive keys </a:t>
            </a:r>
          </a:p>
          <a:p>
            <a:pPr lvl="1"/>
            <a:r>
              <a:rPr lang="en-US" sz="1400" dirty="0"/>
              <a:t>Server → [FINISHED (encrypted with session key)] </a:t>
            </a:r>
          </a:p>
          <a:p>
            <a:pPr lvl="1"/>
            <a:r>
              <a:rPr lang="en-US" sz="1400" dirty="0"/>
              <a:t>Client → [FINISHED (encrypted with session key)] </a:t>
            </a:r>
          </a:p>
          <a:p>
            <a:pPr marL="0" indent="0">
              <a:buNone/>
            </a:pPr>
            <a:r>
              <a:rPr lang="en-US" sz="1400" b="1" dirty="0"/>
              <a:t>Phase 6: ENCRYPTED COMMUNICATION </a:t>
            </a:r>
          </a:p>
          <a:p>
            <a:pPr lvl="1"/>
            <a:r>
              <a:rPr lang="en-US" sz="1400" dirty="0"/>
              <a:t> Bidirectional encrypted data exchange </a:t>
            </a:r>
          </a:p>
        </p:txBody>
      </p:sp>
    </p:spTree>
    <p:extLst>
      <p:ext uri="{BB962C8B-B14F-4D97-AF65-F5344CB8AC3E}">
        <p14:creationId xmlns:p14="http://schemas.microsoft.com/office/powerpoint/2010/main" val="2613720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5285A4-11ED-5DF7-50EA-F1CE72573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Sequence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AEEBB4-AACA-A70A-1F99-4872BC3868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0576" y="643466"/>
            <a:ext cx="3499104" cy="613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974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F18149-F5FF-F001-B903-505460674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Code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DEC05-49E6-AAC2-67C8-A08E03D19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Main.java - DEMONSTRATION APPLICATION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     public static void main(String[] args) {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    TLSClient client = new TLSClient();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     TLSServer server = new TLSServer();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        // Phase 1: Server setup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         server.initialize();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       // Phase 2: Client hello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         TLSMessage hello = client.sendClientHello();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       // Phase 3: Server response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         TLSMessage[] response =  server.handleClientHello(hello);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       // Phase 4: Client key exchange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           client.handleServerMessages(response);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         TLSMessage keyEx = client.sendKeyExchange();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      //  Phase 5: Finalization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         TLSMessage sFinish =  server.handleKeyExchange(keyEx);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         TLSMessage cFinish = client.handleFinished(sFinish);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          server.handleFinished(cFinish);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      //  Phase 6: Encrypted communication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           demonstrateEncryptedComm(client, server);</a:t>
            </a:r>
          </a:p>
        </p:txBody>
      </p:sp>
    </p:spTree>
    <p:extLst>
      <p:ext uri="{BB962C8B-B14F-4D97-AF65-F5344CB8AC3E}">
        <p14:creationId xmlns:p14="http://schemas.microsoft.com/office/powerpoint/2010/main" val="2403309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0E0C43A-84DC-E5A4-D8A0-D44BD75CC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Security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B56B0-4A77-AED9-B547-50BD831C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SECURITY PROPERTIES ACHIEVED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>
                <a:solidFill>
                  <a:schemeClr val="tx2"/>
                </a:solidFill>
              </a:rPr>
              <a:t>CONFIDENTIALITY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All data encrypted with session keys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 Keys derived from shared secret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Eavesdropper sees only ciphertext 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>
                <a:solidFill>
                  <a:schemeClr val="tx2"/>
                </a:solidFill>
              </a:rPr>
              <a:t>AUTHENTICATION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 Server proved identity via RSA public key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 Client verifies server has matching private key 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>
                <a:solidFill>
                  <a:schemeClr val="tx2"/>
                </a:solidFill>
              </a:rPr>
              <a:t>PERFECT FORWARD SECRECY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Ephemeral DH keys (new each session)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 Keys exist only in RAM during session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Compromising RSA key doesn't expose past data 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>
                <a:solidFill>
                  <a:schemeClr val="tx2"/>
                </a:solidFill>
              </a:rPr>
              <a:t>REPLAY PROTECTION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 Client random: 32 bytes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Server random: 32 bytes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 Session ID: Unique per connection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 Each session cryptographically unique</a:t>
            </a:r>
          </a:p>
        </p:txBody>
      </p:sp>
    </p:spTree>
    <p:extLst>
      <p:ext uri="{BB962C8B-B14F-4D97-AF65-F5344CB8AC3E}">
        <p14:creationId xmlns:p14="http://schemas.microsoft.com/office/powerpoint/2010/main" val="2114981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0274B6-D847-C44B-8916-EB2305C1D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44F03-F213-703D-28DA-091096FB9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8326" y="391963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400" b="1" dirty="0">
                <a:solidFill>
                  <a:schemeClr val="tx2"/>
                </a:solidFill>
              </a:rPr>
              <a:t>IMPLEMENTED FROM SCRATCH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 Modular exponentiation (repeated squaring)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Miller-Rabin primality test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 Complete RSA (key gen, encrypt, decrypt)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 Complete Diffie-Hellman key exchange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 Key derivation function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 TLS protocol with state machine</a:t>
            </a:r>
          </a:p>
          <a:p>
            <a:pPr>
              <a:buFont typeface="Wingdings" pitchFamily="2" charset="2"/>
              <a:buChar char="Ø"/>
            </a:pPr>
            <a:r>
              <a:rPr lang="en-US" sz="1400" b="1" dirty="0">
                <a:solidFill>
                  <a:schemeClr val="tx2"/>
                </a:solidFill>
              </a:rPr>
              <a:t>REAL-WORLD RELEVANCE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This is how HTTPS, VPNs, SSH, and secure communications work! Billions of TLS handshakes happen every day securing the internet.</a:t>
            </a:r>
          </a:p>
        </p:txBody>
      </p:sp>
    </p:spTree>
    <p:extLst>
      <p:ext uri="{BB962C8B-B14F-4D97-AF65-F5344CB8AC3E}">
        <p14:creationId xmlns:p14="http://schemas.microsoft.com/office/powerpoint/2010/main" val="1027542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5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37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8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9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0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1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2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A58DD26-503D-E44B-9F51-5D767666B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731" y="1542402"/>
            <a:ext cx="5186842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FF8BA-C652-62B0-92E8-8FEF1E3B3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2135" y="4001587"/>
            <a:ext cx="5188034" cy="68207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Questions?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92389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4639</TotalTime>
  <Words>1170</Words>
  <Application>Microsoft Macintosh PowerPoint</Application>
  <PresentationFormat>Widescreen</PresentationFormat>
  <Paragraphs>167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2013 - 2022 Theme</vt:lpstr>
      <vt:lpstr>TLS Handshake Protocol</vt:lpstr>
      <vt:lpstr>WHY THIS PROJECT?</vt:lpstr>
      <vt:lpstr>THREE LAYER ARCHITECTURE </vt:lpstr>
      <vt:lpstr>Layer 1  Mathematical Foundation</vt:lpstr>
      <vt:lpstr>Layer 2-Part A  RSA Authentication</vt:lpstr>
      <vt:lpstr>Layer 2-Part B   Diffie-Hellman Key Exchange</vt:lpstr>
      <vt:lpstr>Layer 2-Part C  Key Derivation</vt:lpstr>
      <vt:lpstr>Layer 3 - Protocol Implementation</vt:lpstr>
      <vt:lpstr>The Complete TLS Handshake </vt:lpstr>
      <vt:lpstr>Sequence Diagram</vt:lpstr>
      <vt:lpstr>Code Flow</vt:lpstr>
      <vt:lpstr>Security Analysis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Yamini Buyya</dc:creator>
  <cp:lastModifiedBy>Yamini Buyya</cp:lastModifiedBy>
  <cp:revision>6</cp:revision>
  <dcterms:created xsi:type="dcterms:W3CDTF">2025-11-14T14:21:04Z</dcterms:created>
  <dcterms:modified xsi:type="dcterms:W3CDTF">2025-11-17T19:40:27Z</dcterms:modified>
</cp:coreProperties>
</file>